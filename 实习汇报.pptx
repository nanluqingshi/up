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21"/>
  </p:notesMasterIdLst>
  <p:handoutMasterIdLst>
    <p:handoutMasterId r:id="rId22"/>
  </p:handoutMasterIdLst>
  <p:sldIdLst>
    <p:sldId id="286" r:id="rId3"/>
    <p:sldId id="289" r:id="rId4"/>
    <p:sldId id="288" r:id="rId5"/>
    <p:sldId id="265" r:id="rId6"/>
    <p:sldId id="295" r:id="rId7"/>
    <p:sldId id="291" r:id="rId8"/>
    <p:sldId id="292" r:id="rId9"/>
    <p:sldId id="293" r:id="rId10"/>
    <p:sldId id="274" r:id="rId11"/>
    <p:sldId id="296" r:id="rId12"/>
    <p:sldId id="300" r:id="rId13"/>
    <p:sldId id="294" r:id="rId14"/>
    <p:sldId id="297" r:id="rId15"/>
    <p:sldId id="298" r:id="rId16"/>
    <p:sldId id="299" r:id="rId17"/>
    <p:sldId id="282" r:id="rId18"/>
    <p:sldId id="301" r:id="rId19"/>
    <p:sldId id="29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qi" initials="jhqi" lastIdx="7" clrIdx="0">
    <p:extLst>
      <p:ext uri="{19B8F6BF-5375-455C-9EA6-DF929625EA0E}">
        <p15:presenceInfo xmlns:p15="http://schemas.microsoft.com/office/powerpoint/2012/main" userId="jhq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82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4" autoAdjust="0"/>
    <p:restoredTop sz="83772" autoAdjust="0"/>
  </p:normalViewPr>
  <p:slideViewPr>
    <p:cSldViewPr snapToGrid="0">
      <p:cViewPr varScale="1">
        <p:scale>
          <a:sx n="139" d="100"/>
          <a:sy n="139" d="100"/>
        </p:scale>
        <p:origin x="736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181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20EA5F0D-C1DC-412F-A146-DDB3A74B588F}" type="datetimeFigureOut">
              <a:rPr lang="en-US" altLang="zh-CN"/>
              <a:t>3/28/25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7BAE14B8-3CC9-472D-9BC5-A84D80684DE2}" type="slidenum">
              <a:rPr lang="zh-CN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A8CDE508-72C8-4AB5-AA9C-1584D31690E0}" type="datetimeFigureOut">
              <a:t>2025/3/28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7FB667E1-E601-4AAF-B95C-B25720D70A60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altLang="zh-CN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773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altLang="zh-CN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535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altLang="zh-CN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3662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667E1-E601-4AAF-B95C-B25720D70A60}" type="slidenum">
              <a:rPr lang="en-US" altLang="zh-CN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6434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20D4C-2B91-3140-18E0-650B8F45E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DBFF8F0-8753-4D0A-067A-AB1421D83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3B83AE-BDE5-E3E0-FF28-BD0424908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4E3354-33D0-B4B0-F787-A46091FE7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altLang="zh-CN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012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59D6-B2C9-30EB-CD83-B93EEFE9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50DCE7-1BF4-8DDF-4434-EE74099B7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424EF9-A2BA-6B88-1DC3-913F5B8BD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74D0A1-3F4E-A0A1-47F8-94196906F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altLang="zh-CN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949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2FAD1-D578-B261-E653-D7B6A9E24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883E75-304E-CC9A-899C-D6AAFCA49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B2628B-9EF0-62AE-AA02-8A0656753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B1E84B-5B36-E85C-918C-EF72624424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altLang="zh-CN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72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DBB9C-2FB4-D2EE-CA58-9A973904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510672-5B59-0F09-C02B-54A15B8872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59AEC42-8652-EBD4-82B1-74F4625D3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DEE0F5-6C23-13B0-A4F2-CF6FE88729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altLang="zh-CN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8335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318C5-9D08-B4E4-92D1-E5EE54CF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1A8390-0904-589D-C708-0A8C18DD5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5A63CA-38B2-A28B-7672-D06DCACD9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2172EE-BF73-66A8-28BC-4AD8809EB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altLang="zh-CN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645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9BFE2-0434-8065-650F-87E4B8E6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04FF85-0305-0C65-873F-D5F8ADDDCC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638D29-07D8-E054-CF9F-BD5FE9541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4BE537-0BA3-9AE0-35A1-153D42E8EB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altLang="zh-CN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1831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altLang="zh-CN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1115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C1654-4ECB-2DCD-B14C-9CC94D6D0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57BC2F-59AE-EB0C-A6F6-CF84D3EACB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76E3B1-14D5-4CC2-CEDD-E39E6A625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1CD841-1EB0-0238-2CA0-98B86135B8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altLang="zh-CN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97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B667E1-E601-4AAF-B95C-B25720D70A60}" type="slidenum">
              <a:rPr lang="en-US" altLang="zh-CN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953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0473" y="1728000"/>
            <a:ext cx="13068237" cy="379494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2" y="0"/>
            <a:ext cx="12188827" cy="172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矩形 8"/>
          <p:cNvSpPr/>
          <p:nvPr/>
        </p:nvSpPr>
        <p:spPr>
          <a:xfrm>
            <a:off x="3173" y="5130000"/>
            <a:ext cx="12188827" cy="172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96900" y="2941018"/>
            <a:ext cx="10998200" cy="907181"/>
          </a:xfrm>
          <a:prstGeom prst="rect">
            <a:avLst/>
          </a:prstGeom>
        </p:spPr>
        <p:txBody>
          <a:bodyPr anchor="t"/>
          <a:lstStyle>
            <a:lvl1pPr algn="ctr" latinLnBrk="0">
              <a:defRPr lang="zh-CN" sz="6000" b="1"/>
            </a:lvl1pPr>
          </a:lstStyle>
          <a:p>
            <a:r>
              <a:rPr lang="zh-CN" altLang="en-US" dirty="0"/>
              <a:t>标测试题</a:t>
            </a:r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96900" y="2105063"/>
            <a:ext cx="10998200" cy="748871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 latinLnBrk="0">
              <a:spcBef>
                <a:spcPts val="0"/>
              </a:spcBef>
              <a:buNone/>
              <a:defRPr lang="zh-CN" sz="2800" cap="all" baseline="0"/>
            </a:lvl1pPr>
            <a:lvl2pPr marL="457200" indent="0" algn="ctr" latinLnBrk="0">
              <a:buNone/>
              <a:defRPr lang="zh-CN" sz="2800"/>
            </a:lvl2pPr>
            <a:lvl3pPr marL="914400" indent="0" algn="ctr" latinLnBrk="0">
              <a:buNone/>
              <a:defRPr lang="zh-CN" sz="2400"/>
            </a:lvl3pPr>
            <a:lvl4pPr marL="1371600" indent="0" algn="ctr" latinLnBrk="0">
              <a:buNone/>
              <a:defRPr lang="zh-CN" sz="2000"/>
            </a:lvl4pPr>
            <a:lvl5pPr marL="1828800" indent="0" algn="ctr" latinLnBrk="0">
              <a:buNone/>
              <a:defRPr lang="zh-CN" sz="2000"/>
            </a:lvl5pPr>
            <a:lvl6pPr marL="2286000" indent="0" algn="ctr" latinLnBrk="0">
              <a:buNone/>
              <a:defRPr lang="zh-CN" sz="2000"/>
            </a:lvl6pPr>
            <a:lvl7pPr marL="2743200" indent="0" algn="ctr" latinLnBrk="0">
              <a:buNone/>
              <a:defRPr lang="zh-CN" sz="2000"/>
            </a:lvl7pPr>
            <a:lvl8pPr marL="3200400" indent="0" algn="ctr" latinLnBrk="0">
              <a:buNone/>
              <a:defRPr lang="zh-CN" sz="2000"/>
            </a:lvl8pPr>
            <a:lvl9pPr marL="3657600" indent="0" algn="ctr" latinLnBrk="0">
              <a:buNone/>
              <a:defRPr lang="zh-CN" sz="2000"/>
            </a:lvl9pPr>
          </a:lstStyle>
          <a:p>
            <a:r>
              <a:rPr lang="zh-CN" altLang="en-US" dirty="0"/>
              <a:t>副标题</a:t>
            </a:r>
            <a:endParaRPr lang="zh-CN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4239684" y="4509069"/>
            <a:ext cx="3712633" cy="269875"/>
          </a:xfrm>
          <a:prstGeom prst="rect">
            <a:avLst/>
          </a:prstGeom>
        </p:spPr>
        <p:txBody>
          <a:bodyPr>
            <a:noAutofit/>
          </a:bodyPr>
          <a:lstStyle>
            <a:lvl1pPr marL="45720" indent="0" algn="ctr">
              <a:buFontTx/>
              <a:buNone/>
              <a:defRPr sz="16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报告人  职务</a:t>
            </a:r>
          </a:p>
        </p:txBody>
      </p:sp>
      <p:grpSp>
        <p:nvGrpSpPr>
          <p:cNvPr id="10" name="组合 9"/>
          <p:cNvGrpSpPr>
            <a:grpSpLocks noChangeAspect="1"/>
          </p:cNvGrpSpPr>
          <p:nvPr userDrawn="1"/>
        </p:nvGrpSpPr>
        <p:grpSpPr>
          <a:xfrm>
            <a:off x="4910879" y="3971919"/>
            <a:ext cx="2370243" cy="400136"/>
            <a:chOff x="8729725" y="4570716"/>
            <a:chExt cx="2830513" cy="477838"/>
          </a:xfrm>
          <a:solidFill>
            <a:schemeClr val="tx1">
              <a:alpha val="50000"/>
            </a:schemeClr>
          </a:solidFill>
        </p:grpSpPr>
        <p:sp>
          <p:nvSpPr>
            <p:cNvPr id="13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41"/>
            <p:cNvSpPr>
              <a:spLocks/>
            </p:cNvSpPr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42"/>
            <p:cNvSpPr>
              <a:spLocks/>
            </p:cNvSpPr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43"/>
            <p:cNvSpPr>
              <a:spLocks/>
            </p:cNvSpPr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2882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6912" y="133959"/>
            <a:ext cx="13068237" cy="3794943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1178" y="3481299"/>
            <a:ext cx="13068237" cy="379494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2" y="0"/>
            <a:ext cx="12188827" cy="62653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矩形 8"/>
          <p:cNvSpPr/>
          <p:nvPr/>
        </p:nvSpPr>
        <p:spPr>
          <a:xfrm>
            <a:off x="3173" y="6468532"/>
            <a:ext cx="12188827" cy="38946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96899" y="1249635"/>
            <a:ext cx="2445379" cy="4702272"/>
          </a:xfrm>
          <a:prstGeom prst="rect">
            <a:avLst/>
          </a:prstGeom>
        </p:spPr>
        <p:txBody>
          <a:bodyPr anchor="t"/>
          <a:lstStyle>
            <a:lvl1pPr algn="r" latinLnBrk="0">
              <a:defRPr lang="zh-CN" sz="5400" b="1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/>
              <a:t>目录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3736544" y="1249636"/>
            <a:ext cx="7828393" cy="4702271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 sz="36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39830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375336"/>
            <a:ext cx="12192000" cy="61073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98507" y="797052"/>
            <a:ext cx="8994987" cy="23591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latinLnBrk="0">
              <a:defRPr lang="zh-CN" sz="5400" b="1"/>
            </a:lvl1pPr>
          </a:lstStyle>
          <a:p>
            <a:r>
              <a:rPr lang="zh-CN" altLang="en-US" dirty="0"/>
              <a:t>小节标题</a:t>
            </a:r>
            <a:endParaRPr 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598507" y="3238500"/>
            <a:ext cx="8994987" cy="841248"/>
          </a:xfrm>
          <a:prstGeom prst="rect">
            <a:avLst/>
          </a:prstGeom>
        </p:spPr>
        <p:txBody>
          <a:bodyPr anchor="t"/>
          <a:lstStyle>
            <a:lvl1pPr marL="0" indent="0" algn="l" latinLnBrk="0">
              <a:spcBef>
                <a:spcPts val="0"/>
              </a:spcBef>
              <a:buNone/>
              <a:defRPr lang="zh-CN" sz="2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副标题</a:t>
            </a:r>
          </a:p>
        </p:txBody>
      </p:sp>
      <p:grpSp>
        <p:nvGrpSpPr>
          <p:cNvPr id="31" name="组合 30"/>
          <p:cNvGrpSpPr>
            <a:grpSpLocks noChangeAspect="1"/>
          </p:cNvGrpSpPr>
          <p:nvPr userDrawn="1"/>
        </p:nvGrpSpPr>
        <p:grpSpPr>
          <a:xfrm>
            <a:off x="10654765" y="6553202"/>
            <a:ext cx="1395151" cy="235523"/>
            <a:chOff x="8729725" y="4570716"/>
            <a:chExt cx="2830513" cy="477838"/>
          </a:xfrm>
          <a:solidFill>
            <a:schemeClr val="tx1">
              <a:alpha val="70000"/>
            </a:schemeClr>
          </a:solidFill>
        </p:grpSpPr>
        <p:sp>
          <p:nvSpPr>
            <p:cNvPr id="32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41"/>
            <p:cNvSpPr>
              <a:spLocks/>
            </p:cNvSpPr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42"/>
            <p:cNvSpPr>
              <a:spLocks/>
            </p:cNvSpPr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3"/>
            <p:cNvSpPr>
              <a:spLocks/>
            </p:cNvSpPr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5843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500" y="467360"/>
            <a:ext cx="10795000" cy="898144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8500" y="1626669"/>
            <a:ext cx="10795000" cy="4402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4159342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98501" y="1626669"/>
            <a:ext cx="5087619" cy="4399227"/>
          </a:xfrm>
          <a:prstGeom prst="rect">
            <a:avLst/>
          </a:prstGeom>
        </p:spPr>
        <p:txBody>
          <a:bodyPr>
            <a:normAutofit/>
          </a:bodyPr>
          <a:lstStyle>
            <a:lvl1pPr latinLnBrk="0">
              <a:defRPr lang="zh-CN" sz="2000"/>
            </a:lvl1pPr>
            <a:lvl2pPr latinLnBrk="0">
              <a:defRPr lang="zh-CN" sz="1800"/>
            </a:lvl2pPr>
            <a:lvl3pPr latinLnBrk="0">
              <a:defRPr lang="zh-CN" sz="1600"/>
            </a:lvl3pPr>
            <a:lvl4pPr latinLnBrk="0">
              <a:defRPr lang="zh-CN" sz="1400"/>
            </a:lvl4pPr>
            <a:lvl5pPr latinLnBrk="0">
              <a:defRPr lang="zh-CN" sz="1400"/>
            </a:lvl5pPr>
            <a:lvl6pPr latinLnBrk="0">
              <a:defRPr lang="zh-CN" sz="1400"/>
            </a:lvl6pPr>
            <a:lvl7pPr latinLnBrk="0">
              <a:defRPr lang="zh-CN" sz="1400"/>
            </a:lvl7pPr>
            <a:lvl8pPr latinLnBrk="0">
              <a:defRPr lang="zh-CN" sz="1400"/>
            </a:lvl8pPr>
            <a:lvl9pPr latinLnBrk="0">
              <a:defRPr lang="zh-CN"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05880" y="1626669"/>
            <a:ext cx="5087619" cy="4399227"/>
          </a:xfrm>
          <a:prstGeom prst="rect">
            <a:avLst/>
          </a:prstGeom>
        </p:spPr>
        <p:txBody>
          <a:bodyPr>
            <a:normAutofit/>
          </a:bodyPr>
          <a:lstStyle>
            <a:lvl1pPr latinLnBrk="0">
              <a:defRPr lang="zh-CN" sz="2000"/>
            </a:lvl1pPr>
            <a:lvl2pPr latinLnBrk="0">
              <a:defRPr lang="zh-CN" sz="1800"/>
            </a:lvl2pPr>
            <a:lvl3pPr latinLnBrk="0">
              <a:defRPr lang="zh-CN" sz="1600"/>
            </a:lvl3pPr>
            <a:lvl4pPr latinLnBrk="0">
              <a:defRPr lang="zh-CN" sz="1400"/>
            </a:lvl4pPr>
            <a:lvl5pPr latinLnBrk="0">
              <a:defRPr lang="zh-CN" sz="1400"/>
            </a:lvl5pPr>
            <a:lvl6pPr latinLnBrk="0">
              <a:defRPr lang="zh-CN" sz="1400"/>
            </a:lvl6pPr>
            <a:lvl7pPr latinLnBrk="0">
              <a:defRPr lang="zh-CN" sz="1400"/>
            </a:lvl7pPr>
            <a:lvl8pPr latinLnBrk="0">
              <a:defRPr lang="zh-CN" sz="1400"/>
            </a:lvl8pPr>
            <a:lvl9pPr latinLnBrk="0">
              <a:defRPr lang="zh-CN"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zh-CN" dirty="0"/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698500" y="467360"/>
            <a:ext cx="10795000" cy="898144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923056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98501" y="1608864"/>
            <a:ext cx="5087619" cy="47393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CN" sz="2000" b="0" cap="all" baseline="0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405880" y="1608864"/>
            <a:ext cx="5087619" cy="47393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CN" sz="2000" b="0" cap="all" baseline="0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内容占位符 2"/>
          <p:cNvSpPr>
            <a:spLocks noGrp="1"/>
          </p:cNvSpPr>
          <p:nvPr>
            <p:ph sz="half" idx="10"/>
          </p:nvPr>
        </p:nvSpPr>
        <p:spPr>
          <a:xfrm>
            <a:off x="698501" y="2232732"/>
            <a:ext cx="5087619" cy="2097968"/>
          </a:xfrm>
          <a:prstGeom prst="rect">
            <a:avLst/>
          </a:prstGeom>
        </p:spPr>
        <p:txBody>
          <a:bodyPr>
            <a:normAutofit/>
          </a:bodyPr>
          <a:lstStyle>
            <a:lvl1pPr latinLnBrk="0">
              <a:defRPr lang="zh-CN" altLang="en-US" dirty="0" smtClean="0"/>
            </a:lvl1pPr>
            <a:lvl2pPr latinLnBrk="0">
              <a:defRPr lang="zh-CN" altLang="en-US" dirty="0" smtClean="0"/>
            </a:lvl2pPr>
            <a:lvl3pPr latinLnBrk="0">
              <a:defRPr lang="zh-CN" altLang="en-US" dirty="0" smtClean="0"/>
            </a:lvl3pPr>
            <a:lvl4pPr latinLnBrk="0">
              <a:defRPr lang="zh-CN" altLang="en-US" dirty="0" smtClean="0"/>
            </a:lvl4pPr>
            <a:lvl5pPr latinLnBrk="0">
              <a:defRPr lang="zh-CN" dirty="0"/>
            </a:lvl5pPr>
            <a:lvl6pPr latinLnBrk="0">
              <a:defRPr lang="zh-CN" sz="1400"/>
            </a:lvl6pPr>
            <a:lvl7pPr latinLnBrk="0">
              <a:defRPr lang="zh-CN" sz="1400"/>
            </a:lvl7pPr>
            <a:lvl8pPr latinLnBrk="0">
              <a:defRPr lang="zh-CN" sz="1400"/>
            </a:lvl8pPr>
            <a:lvl9pPr latinLnBrk="0">
              <a:defRPr lang="zh-CN"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zh-CN" dirty="0"/>
          </a:p>
        </p:txBody>
      </p:sp>
      <p:sp>
        <p:nvSpPr>
          <p:cNvPr id="12" name="内容占位符 3"/>
          <p:cNvSpPr>
            <a:spLocks noGrp="1"/>
          </p:cNvSpPr>
          <p:nvPr>
            <p:ph sz="half" idx="2"/>
          </p:nvPr>
        </p:nvSpPr>
        <p:spPr>
          <a:xfrm>
            <a:off x="6405880" y="2232732"/>
            <a:ext cx="5087619" cy="2097968"/>
          </a:xfrm>
          <a:prstGeom prst="rect">
            <a:avLst/>
          </a:prstGeom>
        </p:spPr>
        <p:txBody>
          <a:bodyPr>
            <a:normAutofit/>
          </a:bodyPr>
          <a:lstStyle>
            <a:lvl1pPr latinLnBrk="0">
              <a:defRPr lang="zh-CN" altLang="en-US" dirty="0" smtClean="0"/>
            </a:lvl1pPr>
            <a:lvl2pPr latinLnBrk="0">
              <a:defRPr lang="zh-CN" altLang="en-US" dirty="0" smtClean="0"/>
            </a:lvl2pPr>
            <a:lvl3pPr latinLnBrk="0">
              <a:defRPr lang="zh-CN" altLang="en-US" dirty="0" smtClean="0"/>
            </a:lvl3pPr>
            <a:lvl4pPr latinLnBrk="0">
              <a:defRPr lang="zh-CN" altLang="en-US" dirty="0" smtClean="0"/>
            </a:lvl4pPr>
            <a:lvl5pPr latinLnBrk="0">
              <a:defRPr lang="zh-CN" dirty="0"/>
            </a:lvl5pPr>
            <a:lvl6pPr latinLnBrk="0">
              <a:defRPr lang="zh-CN" sz="1400"/>
            </a:lvl6pPr>
            <a:lvl7pPr latinLnBrk="0">
              <a:defRPr lang="zh-CN" sz="1400"/>
            </a:lvl7pPr>
            <a:lvl8pPr latinLnBrk="0">
              <a:defRPr lang="zh-CN" sz="1400"/>
            </a:lvl8pPr>
            <a:lvl9pPr latinLnBrk="0">
              <a:defRPr lang="zh-CN" sz="14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zh-CN" dirty="0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698500" y="467360"/>
            <a:ext cx="10795000" cy="898144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/>
          </p:nvPr>
        </p:nvSpPr>
        <p:spPr>
          <a:xfrm>
            <a:off x="698500" y="4483100"/>
            <a:ext cx="5088467" cy="1651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" name="文本占位符 17"/>
          <p:cNvSpPr>
            <a:spLocks noGrp="1"/>
          </p:cNvSpPr>
          <p:nvPr>
            <p:ph type="body" sz="quarter" idx="12"/>
          </p:nvPr>
        </p:nvSpPr>
        <p:spPr>
          <a:xfrm>
            <a:off x="6405880" y="4483100"/>
            <a:ext cx="5088467" cy="1651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708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5570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  <a:prstGeom prst="rect">
            <a:avLst/>
          </a:prstGeom>
        </p:spPr>
        <p:txBody>
          <a:bodyPr anchor="b">
            <a:normAutofit/>
          </a:bodyPr>
          <a:lstStyle>
            <a:lvl1pPr latinLnBrk="0">
              <a:defRPr lang="zh-CN" sz="3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  <a:prstGeom prst="rect">
            <a:avLst/>
          </a:prstGeom>
        </p:spPr>
        <p:txBody>
          <a:bodyPr>
            <a:normAutofit/>
          </a:bodyPr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400"/>
            </a:lvl6pPr>
            <a:lvl7pPr latinLnBrk="0">
              <a:defRPr lang="zh-CN" sz="1400"/>
            </a:lvl7pPr>
            <a:lvl8pPr latinLnBrk="0">
              <a:defRPr lang="zh-CN" sz="1400"/>
            </a:lvl8pPr>
            <a:lvl9pPr latinLnBrk="0">
              <a:defRPr lang="zh-CN"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CN" sz="16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35946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  <a:prstGeom prst="rect">
            <a:avLst/>
          </a:prstGeom>
        </p:spPr>
        <p:txBody>
          <a:bodyPr anchor="b">
            <a:normAutofit/>
          </a:bodyPr>
          <a:lstStyle>
            <a:lvl1pPr latinLnBrk="0">
              <a:defRPr lang="zh-CN" sz="3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01752" y="502920"/>
            <a:ext cx="6702552" cy="58430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/>
          <a:lstStyle>
            <a:lvl1pPr marL="0" indent="0" algn="ctr" latinLnBrk="0">
              <a:buNone/>
              <a:defRPr lang="zh-CN" sz="3200">
                <a:solidFill>
                  <a:schemeClr val="bg1"/>
                </a:solidFill>
              </a:defRPr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CN" sz="16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71734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38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6467476"/>
            <a:ext cx="12188827" cy="39052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833120"/>
            <a:ext cx="222251" cy="4917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grpSp>
        <p:nvGrpSpPr>
          <p:cNvPr id="5" name="组合 4"/>
          <p:cNvGrpSpPr>
            <a:grpSpLocks noChangeAspect="1"/>
          </p:cNvGrpSpPr>
          <p:nvPr userDrawn="1"/>
        </p:nvGrpSpPr>
        <p:grpSpPr>
          <a:xfrm>
            <a:off x="10654765" y="6553202"/>
            <a:ext cx="1395151" cy="235523"/>
            <a:chOff x="8729725" y="4570716"/>
            <a:chExt cx="2830513" cy="477838"/>
          </a:xfrm>
          <a:solidFill>
            <a:schemeClr val="tx1">
              <a:alpha val="70000"/>
            </a:schemeClr>
          </a:solidFill>
        </p:grpSpPr>
        <p:sp>
          <p:nvSpPr>
            <p:cNvPr id="6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41"/>
            <p:cNvSpPr>
              <a:spLocks/>
            </p:cNvSpPr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42"/>
            <p:cNvSpPr>
              <a:spLocks/>
            </p:cNvSpPr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43"/>
            <p:cNvSpPr>
              <a:spLocks/>
            </p:cNvSpPr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7609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1" r:id="rId3"/>
    <p:sldLayoutId id="2147483650" r:id="rId4"/>
    <p:sldLayoutId id="2147483660" r:id="rId5"/>
    <p:sldLayoutId id="2147483653" r:id="rId6"/>
    <p:sldLayoutId id="2147483663" r:id="rId7"/>
    <p:sldLayoutId id="2147483656" r:id="rId8"/>
    <p:sldLayoutId id="2147483657" r:id="rId9"/>
    <p:sldLayoutId id="2147483664" r:id="rId10"/>
  </p:sldLayoutIdLst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lang="zh-CN" sz="3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80000"/>
        <a:buFont typeface="Arial" pitchFamily="34" charset="0"/>
        <a:buChar char="•"/>
        <a:defRPr lang="zh-CN"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80000"/>
        <a:buFont typeface="Arial" pitchFamily="34" charset="0"/>
        <a:buChar char="•"/>
        <a:defRPr lang="zh-CN"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lang="zh-CN" sz="16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lang="zh-CN" sz="1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lang="zh-CN" sz="1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lang="zh-CN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lang="zh-CN"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lang="zh-CN"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Font typeface="Arial" pitchFamily="34" charset="0"/>
        <a:buChar char="•"/>
        <a:defRPr lang="zh-CN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60" userDrawn="1">
          <p15:clr>
            <a:srgbClr val="F26B43"/>
          </p15:clr>
        </p15:guide>
        <p15:guide id="2" pos="40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-3508152" y="1832406"/>
            <a:ext cx="10998200" cy="907181"/>
          </a:xfrm>
        </p:spPr>
        <p:txBody>
          <a:bodyPr/>
          <a:lstStyle/>
          <a:p>
            <a:r>
              <a:rPr lang="zh-CN" altLang="en-US" dirty="0"/>
              <a:t> 实习汇报</a:t>
            </a: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1523331" y="2612659"/>
            <a:ext cx="10998200" cy="816341"/>
          </a:xfrm>
        </p:spPr>
        <p:txBody>
          <a:bodyPr/>
          <a:lstStyle/>
          <a:p>
            <a:r>
              <a:rPr lang="zh-CN" altLang="en-US" sz="4400" dirty="0"/>
              <a:t>美团</a:t>
            </a:r>
            <a:r>
              <a:rPr lang="en-US" altLang="zh-CN" sz="4400" dirty="0"/>
              <a:t>-</a:t>
            </a:r>
            <a:r>
              <a:rPr lang="zh-CN" altLang="en-US" sz="4400" dirty="0"/>
              <a:t>财务科技前端开发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453064" y="4572002"/>
            <a:ext cx="4944422" cy="372978"/>
          </a:xfrm>
        </p:spPr>
        <p:txBody>
          <a:bodyPr/>
          <a:lstStyle/>
          <a:p>
            <a:r>
              <a:rPr lang="zh-CN" altLang="en-US" dirty="0"/>
              <a:t>汇报时间：</a:t>
            </a:r>
            <a:r>
              <a:rPr lang="en-US" altLang="zh-CN" dirty="0"/>
              <a:t>2025-03-28</a:t>
            </a:r>
            <a:r>
              <a:rPr lang="zh-CN" altLang="en-US" dirty="0"/>
              <a:t>                    报告人 张文晶</a:t>
            </a:r>
          </a:p>
        </p:txBody>
      </p:sp>
    </p:spTree>
    <p:extLst>
      <p:ext uri="{BB962C8B-B14F-4D97-AF65-F5344CB8AC3E}">
        <p14:creationId xmlns:p14="http://schemas.microsoft.com/office/powerpoint/2010/main" val="100058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公司简介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部门介绍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实习介绍</a:t>
            </a:r>
          </a:p>
        </p:txBody>
      </p:sp>
    </p:spTree>
    <p:extLst>
      <p:ext uri="{BB962C8B-B14F-4D97-AF65-F5344CB8AC3E}">
        <p14:creationId xmlns:p14="http://schemas.microsoft.com/office/powerpoint/2010/main" val="1990429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01-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4000" dirty="0"/>
              <a:t>公司简介</a:t>
            </a:r>
          </a:p>
        </p:txBody>
      </p:sp>
    </p:spTree>
    <p:extLst>
      <p:ext uri="{BB962C8B-B14F-4D97-AF65-F5344CB8AC3E}">
        <p14:creationId xmlns:p14="http://schemas.microsoft.com/office/powerpoint/2010/main" val="4094146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美团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美团是一家科技零售公司。美团以“零售</a:t>
            </a:r>
            <a:r>
              <a:rPr lang="en-US" altLang="zh-CN" dirty="0"/>
              <a:t>+</a:t>
            </a:r>
            <a:r>
              <a:rPr lang="zh-CN" altLang="en-US" dirty="0"/>
              <a:t>科技”的战略践行“帮大家吃得更好，生活更好”的公司使命。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自</a:t>
            </a:r>
            <a:r>
              <a:rPr lang="en-US" altLang="zh-CN" dirty="0"/>
              <a:t>2010</a:t>
            </a:r>
            <a:r>
              <a:rPr lang="zh-CN" altLang="en-US" dirty="0"/>
              <a:t>年</a:t>
            </a:r>
            <a:r>
              <a:rPr lang="en-US" altLang="zh-CN" dirty="0"/>
              <a:t>3</a:t>
            </a:r>
            <a:r>
              <a:rPr lang="zh-CN" altLang="en-US" dirty="0"/>
              <a:t>月成立以来，美团持续推动服务零售和商品零售在需求侧和供给侧的数字化升级，和广大合作伙伴一起努力为消费者提供品质服务。</a:t>
            </a:r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9</a:t>
            </a:r>
            <a:r>
              <a:rPr lang="zh-CN" altLang="en-US" dirty="0"/>
              <a:t>月</a:t>
            </a:r>
            <a:r>
              <a:rPr lang="en-US" altLang="zh-CN" dirty="0"/>
              <a:t>20</a:t>
            </a:r>
            <a:r>
              <a:rPr lang="zh-CN" altLang="en-US" dirty="0"/>
              <a:t>日，美团在港交所挂牌上市。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美团始终以客户为中心，不断加大在新技术上的研发投入。美团始终秉持着这样一个理念：努力并更好承担社会责任，更多创造社会价值。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公司主营业务涵盖外卖配送、到店餐饮、酒店旅游、共享出行及新零售等领域，日均服务超千万商家与数亿用户。依托大数据分析与智能调度系统，美团持续优化供需匹配效率，助力商户降本增效，并为消费者提供便捷、高性价比的生活服务。作为数字化生活服务生态构建者，美团通过技术创新推动行业升级，在促进就业、提振消费等方面发挥重要作用，展现了科技赋能实体经济的核心价值。</a:t>
            </a:r>
          </a:p>
        </p:txBody>
      </p:sp>
    </p:spTree>
    <p:extLst>
      <p:ext uri="{BB962C8B-B14F-4D97-AF65-F5344CB8AC3E}">
        <p14:creationId xmlns:p14="http://schemas.microsoft.com/office/powerpoint/2010/main" val="2771859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089C35-BAC1-0872-13C4-F0E9A4F8C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08" y="156464"/>
            <a:ext cx="10795000" cy="898144"/>
          </a:xfrm>
        </p:spPr>
        <p:txBody>
          <a:bodyPr/>
          <a:lstStyle/>
          <a:p>
            <a:r>
              <a:rPr kumimoji="1" lang="zh-CN" altLang="en-US" dirty="0"/>
              <a:t>发展历程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409BAB5-ED49-1B5A-A977-F20FC9F4B1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4492" y="1217656"/>
            <a:ext cx="10127996" cy="494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41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4C494-89A2-9BDA-568F-C8D3518AC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零售 </a:t>
            </a:r>
            <a:r>
              <a:rPr kumimoji="1" lang="en-US" altLang="zh-CN" dirty="0"/>
              <a:t>+</a:t>
            </a:r>
            <a:r>
              <a:rPr kumimoji="1" lang="zh-CN" altLang="en-US" dirty="0"/>
              <a:t> 科技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209F6C1-5425-AA22-1CE5-E4C5B8A5C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6190" y="1627188"/>
            <a:ext cx="9639619" cy="440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71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9AD34-0A22-466A-2EB6-BBA6360A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35F60A-BBAE-1B92-2F23-33D6C828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02-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4EFCE4-28AE-63BE-B889-8F0CA26A98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4000" dirty="0"/>
              <a:t>部门介绍</a:t>
            </a:r>
          </a:p>
        </p:txBody>
      </p:sp>
    </p:spTree>
    <p:extLst>
      <p:ext uri="{BB962C8B-B14F-4D97-AF65-F5344CB8AC3E}">
        <p14:creationId xmlns:p14="http://schemas.microsoft.com/office/powerpoint/2010/main" val="633581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796AA-1839-50DF-9E8A-EE5387A9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8AE129F-E4ED-E619-512F-D619CDEA4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财务平台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33726C-E54A-2086-6B69-27A286FAD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1914576"/>
            <a:ext cx="10795000" cy="4402912"/>
          </a:xfrm>
        </p:spPr>
        <p:txBody>
          <a:bodyPr/>
          <a:lstStyle/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zh-CN" altLang="en-US" b="0" i="0" dirty="0">
                <a:effectLst/>
                <a:latin typeface="-apple-system"/>
              </a:rPr>
              <a:t>作为美团金融基础设施的</a:t>
            </a:r>
            <a:r>
              <a:rPr lang="zh-CN" altLang="en-US" b="1" i="0" dirty="0">
                <a:effectLst/>
                <a:latin typeface="-apple-system"/>
              </a:rPr>
              <a:t>中枢神经系统</a:t>
            </a:r>
            <a:r>
              <a:rPr lang="zh-CN" altLang="en-US" b="0" i="0" dirty="0">
                <a:effectLst/>
                <a:latin typeface="-apple-system"/>
              </a:rPr>
              <a:t>，财务平台承载着集团资金流转、风险管控与合规运营的战略使命。部门通过构建智能化的全球资金管理网络，支撑日均数亿级交易的高效清算与结算，确保美团外卖、到店等核心业务在全球范围内的资金链路安全畅通。</a:t>
            </a:r>
            <a:endParaRPr lang="en-US" altLang="zh-CN" b="0" i="0" dirty="0">
              <a:effectLst/>
              <a:latin typeface="-apple-system"/>
            </a:endParaRPr>
          </a:p>
          <a:p>
            <a:pPr algn="l">
              <a:lnSpc>
                <a:spcPct val="150000"/>
              </a:lnSpc>
              <a:spcAft>
                <a:spcPts val="1200"/>
              </a:spcAft>
            </a:pPr>
            <a:r>
              <a:rPr lang="zh-CN" altLang="en-US" b="0" i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同时通过技术赋能向</a:t>
            </a:r>
            <a:r>
              <a:rPr lang="en" altLang="zh-CN" b="0" i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B</a:t>
            </a:r>
            <a:r>
              <a:rPr lang="zh-CN" altLang="en-US" b="0" i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端商户、</a:t>
            </a:r>
            <a:r>
              <a:rPr lang="en" altLang="zh-CN" b="0" i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C</a:t>
            </a:r>
            <a:r>
              <a:rPr lang="zh-CN" altLang="en-US" b="0" i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端用户提供金融服务，形成「支付</a:t>
            </a:r>
            <a:r>
              <a:rPr lang="en-US" altLang="zh-CN" b="0" i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+</a:t>
            </a:r>
            <a:r>
              <a:rPr lang="zh-CN" altLang="en-US" b="0" i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供应链金融</a:t>
            </a:r>
            <a:r>
              <a:rPr lang="en-US" altLang="zh-CN" b="0" i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+</a:t>
            </a:r>
            <a:r>
              <a:rPr lang="zh-CN" altLang="en-US" b="0" i="0" dirty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消费金融」的完整闭环</a:t>
            </a:r>
            <a:endParaRPr lang="zh-CN" altLang="en-US" b="0" i="0" dirty="0">
              <a:effectLst/>
              <a:latin typeface="-apple-system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6875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/>
          <p:nvPr/>
        </p:nvSpPr>
        <p:spPr>
          <a:xfrm>
            <a:off x="0" y="259904"/>
            <a:ext cx="12192000" cy="6858000"/>
          </a:xfrm>
          <a:prstGeom prst="rect">
            <a:avLst/>
          </a:prstGeom>
          <a:gradFill>
            <a:gsLst>
              <a:gs pos="0">
                <a:schemeClr val="bg1">
                  <a:alpha val="63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54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" name="标题 1"/>
          <p:cNvSpPr txBox="1"/>
          <p:nvPr/>
        </p:nvSpPr>
        <p:spPr>
          <a:xfrm>
            <a:off x="660400" y="2227617"/>
            <a:ext cx="3489654" cy="3572292"/>
          </a:xfrm>
          <a:prstGeom prst="roundRect">
            <a:avLst>
              <a:gd name="adj" fmla="val 7063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1601294" y="1421750"/>
            <a:ext cx="1607866" cy="160786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5" name="标题 1"/>
          <p:cNvSpPr txBox="1"/>
          <p:nvPr/>
        </p:nvSpPr>
        <p:spPr>
          <a:xfrm>
            <a:off x="1757227" y="1577683"/>
            <a:ext cx="1296000" cy="1296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2099227" y="1957788"/>
            <a:ext cx="612000" cy="535790"/>
          </a:xfrm>
          <a:custGeom>
            <a:avLst/>
            <a:gdLst>
              <a:gd name="connsiteX0" fmla="*/ 411292 w 822400"/>
              <a:gd name="connsiteY0" fmla="*/ 234366 h 720000"/>
              <a:gd name="connsiteX1" fmla="*/ 285658 w 822400"/>
              <a:gd name="connsiteY1" fmla="*/ 360000 h 720000"/>
              <a:gd name="connsiteX2" fmla="*/ 411292 w 822400"/>
              <a:gd name="connsiteY2" fmla="*/ 485635 h 720000"/>
              <a:gd name="connsiteX3" fmla="*/ 536927 w 822400"/>
              <a:gd name="connsiteY3" fmla="*/ 360000 h 720000"/>
              <a:gd name="connsiteX4" fmla="*/ 411292 w 822400"/>
              <a:gd name="connsiteY4" fmla="*/ 234366 h 720000"/>
              <a:gd name="connsiteX5" fmla="*/ 411292 w 822400"/>
              <a:gd name="connsiteY5" fmla="*/ 178938 h 720000"/>
              <a:gd name="connsiteX6" fmla="*/ 592354 w 822400"/>
              <a:gd name="connsiteY6" fmla="*/ 360000 h 720000"/>
              <a:gd name="connsiteX7" fmla="*/ 411292 w 822400"/>
              <a:gd name="connsiteY7" fmla="*/ 541063 h 720000"/>
              <a:gd name="connsiteX8" fmla="*/ 230230 w 822400"/>
              <a:gd name="connsiteY8" fmla="*/ 360000 h 720000"/>
              <a:gd name="connsiteX9" fmla="*/ 411292 w 822400"/>
              <a:gd name="connsiteY9" fmla="*/ 178938 h 720000"/>
              <a:gd name="connsiteX10" fmla="*/ 235403 w 822400"/>
              <a:gd name="connsiteY10" fmla="*/ 55427 h 720000"/>
              <a:gd name="connsiteX11" fmla="*/ 59514 w 822400"/>
              <a:gd name="connsiteY11" fmla="*/ 360000 h 720000"/>
              <a:gd name="connsiteX12" fmla="*/ 235403 w 822400"/>
              <a:gd name="connsiteY12" fmla="*/ 664573 h 720000"/>
              <a:gd name="connsiteX13" fmla="*/ 587089 w 822400"/>
              <a:gd name="connsiteY13" fmla="*/ 664573 h 720000"/>
              <a:gd name="connsiteX14" fmla="*/ 762978 w 822400"/>
              <a:gd name="connsiteY14" fmla="*/ 360000 h 720000"/>
              <a:gd name="connsiteX15" fmla="*/ 587089 w 822400"/>
              <a:gd name="connsiteY15" fmla="*/ 55427 h 720000"/>
              <a:gd name="connsiteX16" fmla="*/ 219883 w 822400"/>
              <a:gd name="connsiteY16" fmla="*/ 0 h 720000"/>
              <a:gd name="connsiteX17" fmla="*/ 602516 w 822400"/>
              <a:gd name="connsiteY17" fmla="*/ 0 h 720000"/>
              <a:gd name="connsiteX18" fmla="*/ 627274 w 822400"/>
              <a:gd name="connsiteY18" fmla="*/ 14319 h 720000"/>
              <a:gd name="connsiteX19" fmla="*/ 818590 w 822400"/>
              <a:gd name="connsiteY19" fmla="*/ 345682 h 720000"/>
              <a:gd name="connsiteX20" fmla="*/ 818590 w 822400"/>
              <a:gd name="connsiteY20" fmla="*/ 374319 h 720000"/>
              <a:gd name="connsiteX21" fmla="*/ 627366 w 822400"/>
              <a:gd name="connsiteY21" fmla="*/ 705682 h 720000"/>
              <a:gd name="connsiteX22" fmla="*/ 602608 w 822400"/>
              <a:gd name="connsiteY22" fmla="*/ 720000 h 720000"/>
              <a:gd name="connsiteX23" fmla="*/ 219976 w 822400"/>
              <a:gd name="connsiteY23" fmla="*/ 720000 h 720000"/>
              <a:gd name="connsiteX24" fmla="*/ 195218 w 822400"/>
              <a:gd name="connsiteY24" fmla="*/ 705682 h 720000"/>
              <a:gd name="connsiteX25" fmla="*/ 3810 w 822400"/>
              <a:gd name="connsiteY25" fmla="*/ 374319 h 720000"/>
              <a:gd name="connsiteX26" fmla="*/ 3810 w 822400"/>
              <a:gd name="connsiteY26" fmla="*/ 345682 h 720000"/>
              <a:gd name="connsiteX27" fmla="*/ 195126 w 822400"/>
              <a:gd name="connsiteY27" fmla="*/ 14319 h 720000"/>
              <a:gd name="connsiteX28" fmla="*/ 219883 w 822400"/>
              <a:gd name="connsiteY28" fmla="*/ 0 h 720000"/>
            </a:gdLst>
            <a:ahLst/>
            <a:cxnLst/>
            <a:rect l="l" t="t" r="r" b="b"/>
            <a:pathLst>
              <a:path w="822400" h="720000">
                <a:moveTo>
                  <a:pt x="411292" y="234366"/>
                </a:moveTo>
                <a:cubicBezTo>
                  <a:pt x="342008" y="234366"/>
                  <a:pt x="285658" y="290716"/>
                  <a:pt x="285658" y="360000"/>
                </a:cubicBezTo>
                <a:cubicBezTo>
                  <a:pt x="285658" y="429284"/>
                  <a:pt x="342008" y="485635"/>
                  <a:pt x="411292" y="485635"/>
                </a:cubicBezTo>
                <a:cubicBezTo>
                  <a:pt x="480576" y="485635"/>
                  <a:pt x="536927" y="429284"/>
                  <a:pt x="536927" y="360000"/>
                </a:cubicBezTo>
                <a:cubicBezTo>
                  <a:pt x="536927" y="290716"/>
                  <a:pt x="480576" y="234366"/>
                  <a:pt x="411292" y="234366"/>
                </a:cubicBezTo>
                <a:close/>
                <a:moveTo>
                  <a:pt x="411292" y="178938"/>
                </a:moveTo>
                <a:cubicBezTo>
                  <a:pt x="511153" y="178938"/>
                  <a:pt x="592354" y="260139"/>
                  <a:pt x="592354" y="360000"/>
                </a:cubicBezTo>
                <a:cubicBezTo>
                  <a:pt x="592354" y="459861"/>
                  <a:pt x="511153" y="541063"/>
                  <a:pt x="411292" y="541063"/>
                </a:cubicBezTo>
                <a:cubicBezTo>
                  <a:pt x="311431" y="541063"/>
                  <a:pt x="230230" y="459861"/>
                  <a:pt x="230230" y="360000"/>
                </a:cubicBezTo>
                <a:cubicBezTo>
                  <a:pt x="230230" y="260139"/>
                  <a:pt x="311431" y="178938"/>
                  <a:pt x="411292" y="178938"/>
                </a:cubicBezTo>
                <a:close/>
                <a:moveTo>
                  <a:pt x="235403" y="55427"/>
                </a:moveTo>
                <a:lnTo>
                  <a:pt x="59514" y="360000"/>
                </a:lnTo>
                <a:lnTo>
                  <a:pt x="235403" y="664573"/>
                </a:lnTo>
                <a:lnTo>
                  <a:pt x="587089" y="664573"/>
                </a:lnTo>
                <a:lnTo>
                  <a:pt x="762978" y="360000"/>
                </a:lnTo>
                <a:lnTo>
                  <a:pt x="587089" y="55427"/>
                </a:lnTo>
                <a:close/>
                <a:moveTo>
                  <a:pt x="219883" y="0"/>
                </a:moveTo>
                <a:lnTo>
                  <a:pt x="602516" y="0"/>
                </a:lnTo>
                <a:cubicBezTo>
                  <a:pt x="612678" y="0"/>
                  <a:pt x="622193" y="5450"/>
                  <a:pt x="627274" y="14319"/>
                </a:cubicBezTo>
                <a:lnTo>
                  <a:pt x="818590" y="345682"/>
                </a:lnTo>
                <a:cubicBezTo>
                  <a:pt x="823671" y="354550"/>
                  <a:pt x="823671" y="365451"/>
                  <a:pt x="818590" y="374319"/>
                </a:cubicBezTo>
                <a:lnTo>
                  <a:pt x="627366" y="705682"/>
                </a:lnTo>
                <a:cubicBezTo>
                  <a:pt x="622285" y="714550"/>
                  <a:pt x="612770" y="720000"/>
                  <a:pt x="602608" y="720000"/>
                </a:cubicBezTo>
                <a:lnTo>
                  <a:pt x="219976" y="720000"/>
                </a:lnTo>
                <a:cubicBezTo>
                  <a:pt x="209814" y="720000"/>
                  <a:pt x="200299" y="714550"/>
                  <a:pt x="195218" y="705682"/>
                </a:cubicBezTo>
                <a:lnTo>
                  <a:pt x="3810" y="374319"/>
                </a:lnTo>
                <a:cubicBezTo>
                  <a:pt x="-1271" y="365543"/>
                  <a:pt x="-1271" y="354550"/>
                  <a:pt x="3810" y="345682"/>
                </a:cubicBezTo>
                <a:lnTo>
                  <a:pt x="195126" y="14319"/>
                </a:lnTo>
                <a:cubicBezTo>
                  <a:pt x="200207" y="5450"/>
                  <a:pt x="209721" y="0"/>
                  <a:pt x="219883" y="0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7" name="标题 1"/>
          <p:cNvSpPr txBox="1"/>
          <p:nvPr/>
        </p:nvSpPr>
        <p:spPr>
          <a:xfrm>
            <a:off x="900943" y="3866280"/>
            <a:ext cx="3008568" cy="174972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zh-CN" altLang="en-US" dirty="0"/>
              <a:t>搭建覆盖</a:t>
            </a:r>
            <a:r>
              <a:rPr kumimoji="1" lang="en-US" altLang="zh-CN" dirty="0"/>
              <a:t>200+</a:t>
            </a:r>
          </a:p>
          <a:p>
            <a:pPr algn="ctr">
              <a:lnSpc>
                <a:spcPct val="140000"/>
              </a:lnSpc>
            </a:pPr>
            <a:r>
              <a:rPr kumimoji="1" lang="zh-CN" altLang="en-US" dirty="0"/>
              <a:t>国家地区的标准化支付通道</a:t>
            </a:r>
          </a:p>
        </p:txBody>
      </p:sp>
      <p:sp>
        <p:nvSpPr>
          <p:cNvPr id="8" name="标题 1"/>
          <p:cNvSpPr txBox="1"/>
          <p:nvPr/>
        </p:nvSpPr>
        <p:spPr>
          <a:xfrm>
            <a:off x="1373361" y="1632816"/>
            <a:ext cx="144000" cy="14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9" name="标题 1"/>
          <p:cNvSpPr txBox="1"/>
          <p:nvPr/>
        </p:nvSpPr>
        <p:spPr>
          <a:xfrm>
            <a:off x="3268187" y="248487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00943" y="3108385"/>
            <a:ext cx="3008568" cy="720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E6DE0">
                    <a:alpha val="100000"/>
                  </a:srgbClr>
                </a:solidFill>
                <a:latin typeface="Source Han Sans CN Bold"/>
                <a:ea typeface="Source Han Sans CN Bold"/>
              </a:rPr>
              <a:t>资金枢纽建设</a:t>
            </a:r>
            <a:endParaRPr kumimoji="1" lang="zh-CN" altLang="en-US" dirty="0"/>
          </a:p>
        </p:txBody>
      </p:sp>
      <p:sp>
        <p:nvSpPr>
          <p:cNvPr id="11" name="标题 1"/>
          <p:cNvSpPr txBox="1"/>
          <p:nvPr/>
        </p:nvSpPr>
        <p:spPr>
          <a:xfrm>
            <a:off x="4342464" y="2227617"/>
            <a:ext cx="3489654" cy="3572292"/>
          </a:xfrm>
          <a:prstGeom prst="roundRect">
            <a:avLst>
              <a:gd name="adj" fmla="val 7063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>
            <a:off x="5283358" y="1421750"/>
            <a:ext cx="1607866" cy="160786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3" name="标题 1"/>
          <p:cNvSpPr txBox="1"/>
          <p:nvPr/>
        </p:nvSpPr>
        <p:spPr>
          <a:xfrm>
            <a:off x="5439291" y="1577683"/>
            <a:ext cx="1296000" cy="1296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4" name="标题 1"/>
          <p:cNvSpPr txBox="1"/>
          <p:nvPr/>
        </p:nvSpPr>
        <p:spPr>
          <a:xfrm>
            <a:off x="4480560" y="3828386"/>
            <a:ext cx="3294143" cy="1787624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zh-CN" altLang="en-US" dirty="0"/>
              <a:t>   动态适配各国金融监管政策，保障跨境业务符合税务合规要求</a:t>
            </a:r>
          </a:p>
        </p:txBody>
      </p:sp>
      <p:sp>
        <p:nvSpPr>
          <p:cNvPr id="15" name="标题 1"/>
          <p:cNvSpPr txBox="1"/>
          <p:nvPr/>
        </p:nvSpPr>
        <p:spPr>
          <a:xfrm>
            <a:off x="5055425" y="1632816"/>
            <a:ext cx="144000" cy="14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6" name="标题 1"/>
          <p:cNvSpPr txBox="1"/>
          <p:nvPr/>
        </p:nvSpPr>
        <p:spPr>
          <a:xfrm>
            <a:off x="6950251" y="248487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7" name="标题 1"/>
          <p:cNvSpPr txBox="1"/>
          <p:nvPr/>
        </p:nvSpPr>
        <p:spPr>
          <a:xfrm>
            <a:off x="4583007" y="3108385"/>
            <a:ext cx="3008568" cy="720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E6DE0">
                    <a:alpha val="100000"/>
                  </a:srgbClr>
                </a:solidFill>
                <a:latin typeface="Source Han Sans CN Bold"/>
                <a:ea typeface="Source Han Sans CN Bold"/>
              </a:rPr>
              <a:t>合规引擎开发</a:t>
            </a:r>
            <a:endParaRPr kumimoji="1" lang="zh-CN" altLang="en-US" dirty="0"/>
          </a:p>
        </p:txBody>
      </p:sp>
      <p:sp>
        <p:nvSpPr>
          <p:cNvPr id="18" name="标题 1"/>
          <p:cNvSpPr txBox="1"/>
          <p:nvPr/>
        </p:nvSpPr>
        <p:spPr>
          <a:xfrm>
            <a:off x="5809335" y="1973683"/>
            <a:ext cx="555912" cy="504000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/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9" name="标题 1"/>
          <p:cNvSpPr txBox="1"/>
          <p:nvPr/>
        </p:nvSpPr>
        <p:spPr>
          <a:xfrm>
            <a:off x="8015248" y="2227617"/>
            <a:ext cx="3489654" cy="3572292"/>
          </a:xfrm>
          <a:prstGeom prst="roundRect">
            <a:avLst>
              <a:gd name="adj" fmla="val 7063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0" name="标题 1"/>
          <p:cNvSpPr txBox="1"/>
          <p:nvPr/>
        </p:nvSpPr>
        <p:spPr>
          <a:xfrm>
            <a:off x="8956141" y="1421750"/>
            <a:ext cx="1607866" cy="160786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1" name="标题 1"/>
          <p:cNvSpPr txBox="1"/>
          <p:nvPr/>
        </p:nvSpPr>
        <p:spPr>
          <a:xfrm>
            <a:off x="9112075" y="1577683"/>
            <a:ext cx="1296000" cy="1296000"/>
          </a:xfrm>
          <a:prstGeom prst="ellips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2" name="标题 1"/>
          <p:cNvSpPr txBox="1"/>
          <p:nvPr/>
        </p:nvSpPr>
        <p:spPr>
          <a:xfrm>
            <a:off x="8255790" y="3866280"/>
            <a:ext cx="3008568" cy="174972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kumimoji="1" lang="zh-CN" altLang="en-US" dirty="0"/>
              <a:t>通过</a:t>
            </a:r>
            <a:r>
              <a:rPr kumimoji="1" lang="en-US" altLang="zh-CN" dirty="0"/>
              <a:t>API</a:t>
            </a:r>
            <a:r>
              <a:rPr kumimoji="1" lang="zh-CN" altLang="en-US" dirty="0"/>
              <a:t>网关连接业务系统与金融机构，支撑美团生态内百万商户的资金自动化对账。</a:t>
            </a:r>
          </a:p>
        </p:txBody>
      </p:sp>
      <p:sp>
        <p:nvSpPr>
          <p:cNvPr id="23" name="标题 1"/>
          <p:cNvSpPr txBox="1"/>
          <p:nvPr/>
        </p:nvSpPr>
        <p:spPr>
          <a:xfrm>
            <a:off x="8728209" y="1632816"/>
            <a:ext cx="144000" cy="14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4" name="标题 1"/>
          <p:cNvSpPr txBox="1"/>
          <p:nvPr/>
        </p:nvSpPr>
        <p:spPr>
          <a:xfrm>
            <a:off x="10623034" y="248487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5" name="标题 1"/>
          <p:cNvSpPr txBox="1"/>
          <p:nvPr/>
        </p:nvSpPr>
        <p:spPr>
          <a:xfrm>
            <a:off x="8255790" y="3108385"/>
            <a:ext cx="3008568" cy="720000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E6DE0">
                    <a:alpha val="100000"/>
                  </a:srgbClr>
                </a:solidFill>
                <a:latin typeface="Source Han Sans CN Bold"/>
                <a:ea typeface="Source Han Sans CN Bold"/>
              </a:rPr>
              <a:t>业财一体化</a:t>
            </a:r>
            <a:endParaRPr kumimoji="1" lang="zh-CN" altLang="en-US" dirty="0"/>
          </a:p>
        </p:txBody>
      </p:sp>
      <p:sp>
        <p:nvSpPr>
          <p:cNvPr id="26" name="标题 1"/>
          <p:cNvSpPr txBox="1"/>
          <p:nvPr/>
        </p:nvSpPr>
        <p:spPr>
          <a:xfrm>
            <a:off x="9503478" y="1947727"/>
            <a:ext cx="513193" cy="555912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/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bg1"/>
          </a:solidFill>
          <a:ln w="1553" cap="flat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7" name="标题 1"/>
          <p:cNvSpPr txBox="1"/>
          <p:nvPr/>
        </p:nvSpPr>
        <p:spPr>
          <a:xfrm>
            <a:off x="1075041" y="435299"/>
            <a:ext cx="10858500" cy="468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kumimoji="1" lang="zh-CN" altLang="en-US" sz="2800" b="1" dirty="0">
                <a:ln w="12700">
                  <a:noFill/>
                </a:ln>
                <a:latin typeface="Source Han Sans CN Bold"/>
                <a:ea typeface="Source Han Sans CN Bold"/>
              </a:rPr>
              <a:t>核心职责</a:t>
            </a:r>
            <a:endParaRPr kumimoji="1" lang="zh-CN" altLang="en-US" b="1" dirty="0"/>
          </a:p>
        </p:txBody>
      </p:sp>
      <p:grpSp>
        <p:nvGrpSpPr>
          <p:cNvPr id="28" name="组合 27"/>
          <p:cNvGrpSpPr/>
          <p:nvPr/>
        </p:nvGrpSpPr>
        <p:grpSpPr>
          <a:xfrm>
            <a:off x="504217" y="534464"/>
            <a:ext cx="312365" cy="312365"/>
            <a:chOff x="504217" y="534464"/>
            <a:chExt cx="312365" cy="312365"/>
          </a:xfrm>
        </p:grpSpPr>
        <p:sp>
          <p:nvSpPr>
            <p:cNvPr id="29" name="标题 1"/>
            <p:cNvSpPr txBox="1"/>
            <p:nvPr/>
          </p:nvSpPr>
          <p:spPr>
            <a:xfrm>
              <a:off x="504217" y="534464"/>
              <a:ext cx="312365" cy="312365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accent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30" name="标题 1"/>
            <p:cNvSpPr txBox="1"/>
            <p:nvPr/>
          </p:nvSpPr>
          <p:spPr>
            <a:xfrm>
              <a:off x="533681" y="563928"/>
              <a:ext cx="253437" cy="253437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bg1"/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E6B5-C9CE-6236-F579-4255ACDE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29293B-F8F6-659E-C3DC-98048637F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03-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DEC3D2-ACA0-7E54-65F0-E17103F82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4000" dirty="0"/>
              <a:t>实习内容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436C1D-1921-C88D-1D21-4F781C648963}"/>
              </a:ext>
            </a:extLst>
          </p:cNvPr>
          <p:cNvSpPr txBox="1"/>
          <p:nvPr/>
        </p:nvSpPr>
        <p:spPr>
          <a:xfrm>
            <a:off x="1598507" y="4398264"/>
            <a:ext cx="2759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/>
              <a:t>实习时间：</a:t>
            </a:r>
            <a:r>
              <a:rPr lang="en-US" altLang="zh-CN" sz="1800" dirty="0"/>
              <a:t>2025.3</a:t>
            </a:r>
            <a:r>
              <a:rPr lang="zh-CN" altLang="en-US" sz="1800" dirty="0"/>
              <a:t>月至今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6789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A220-1EBC-A6EF-0201-1E6541A6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836DD43-1526-0A34-DD72-FBD0E969E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实习内容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C84FC1-706F-DF18-67E8-80BB84531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b="0" i="0" dirty="0">
                <a:effectLst/>
                <a:latin typeface="-apple-system"/>
              </a:rPr>
              <a:t>FNC</a:t>
            </a:r>
            <a:r>
              <a:rPr lang="zh-CN" altLang="en-US" sz="2400" b="0" i="0" dirty="0">
                <a:effectLst/>
                <a:latin typeface="-apple-system"/>
              </a:rPr>
              <a:t> 渠道运维平台开发</a:t>
            </a:r>
            <a:endParaRPr lang="en-US" altLang="zh-CN" sz="2400" b="0" i="0" dirty="0"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endParaRPr lang="en-US" altLang="zh-CN" sz="2400" b="0" i="0" dirty="0"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-apple-system"/>
              </a:rPr>
              <a:t>内部工具库生态建设</a:t>
            </a:r>
            <a:endParaRPr lang="en-US" altLang="zh-CN" sz="2400" dirty="0">
              <a:latin typeface="-apple-system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sz="2400" b="0" i="0" dirty="0">
                <a:effectLst/>
                <a:latin typeface="-apple-system"/>
              </a:rPr>
              <a:t>技术文档体系完善</a:t>
            </a:r>
            <a:endParaRPr lang="en-US" altLang="zh-CN" sz="2400" b="0" i="0" dirty="0"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endParaRPr lang="en-US" altLang="zh-CN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612824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5B8DF-4520-F32F-F99D-6B81AE1D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51C8C44-3C67-DAFA-7719-C79D84A6C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全球银企金融网络通道（</a:t>
            </a:r>
            <a:r>
              <a:rPr lang="en-US" altLang="zh-CN" dirty="0"/>
              <a:t>FNC</a:t>
            </a:r>
            <a:r>
              <a:rPr lang="zh-CN" altLang="en-US" dirty="0"/>
              <a:t>项目）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BB1F131-B993-DEB1-6297-548393320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effectLst/>
              </a:rPr>
              <a:t>通过与银行建立点对点直连能力，财务闭环管理银企渠道（具备付款、查余额、查流水等能力），高效支撑流动性管理（如查询账户实时余额、调拨转账）、资金调拨（如自动归集、自动下拨）、公司支付（如对供应商付款、员工报销）等业务场景，同时支持融资、理财等网络通道建设。</a:t>
            </a:r>
            <a:endParaRPr lang="en-US" altLang="zh-CN" dirty="0">
              <a:effectLst/>
            </a:endParaRPr>
          </a:p>
          <a:p>
            <a:pPr>
              <a:lnSpc>
                <a:spcPct val="120000"/>
              </a:lnSpc>
            </a:pPr>
            <a:r>
              <a:rPr lang="zh-CN" altLang="en-US" dirty="0"/>
              <a:t>建设全球银企金融网络通道能力，服务全球资金调拨、对外公司支付、员工报销、电子回单查询等业务。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>
                <a:effectLst/>
              </a:rPr>
              <a:t>资金管理上支撑全球资金调拨、跨银行间自动上收下拨、公司管理付款能力</a:t>
            </a:r>
            <a:r>
              <a:rPr lang="zh-CN" altLang="en-US" dirty="0"/>
              <a:t>。</a:t>
            </a:r>
            <a:endParaRPr lang="en-US" altLang="zh-CN" dirty="0">
              <a:effectLst/>
            </a:endParaRPr>
          </a:p>
          <a:p>
            <a:pPr>
              <a:lnSpc>
                <a:spcPct val="120000"/>
              </a:lnSpc>
            </a:pPr>
            <a:r>
              <a:rPr lang="zh-CN" altLang="en-US" dirty="0"/>
              <a:t>外部融资机构（银行、第三方融资机构）通道能力建设，支持业务线融资放款使用、融资数据查询能力建设。</a:t>
            </a:r>
            <a:endParaRPr lang="zh-CN" alt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35122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68F13-8E5D-2FCA-6040-835D4CE9B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7EDAE82-F321-2A36-C4D4-228BDEB3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FNC</a:t>
            </a:r>
            <a:r>
              <a:rPr lang="zh-CN" altLang="en-US" dirty="0"/>
              <a:t>基建能力建设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596E882-29AB-5231-472D-F8FDEBF2B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effectLst/>
                <a:latin typeface="-apple-system"/>
              </a:rPr>
              <a:t>旨在实现</a:t>
            </a:r>
            <a:r>
              <a:rPr lang="zh-CN" altLang="en-US" b="1" i="0" dirty="0">
                <a:effectLst/>
                <a:latin typeface="-apple-system"/>
              </a:rPr>
              <a:t>全球资金链路的高效管理</a:t>
            </a:r>
            <a:r>
              <a:rPr lang="zh-CN" altLang="en-US" b="0" i="0" dirty="0">
                <a:effectLst/>
                <a:latin typeface="-apple-system"/>
              </a:rPr>
              <a:t>与</a:t>
            </a:r>
            <a:r>
              <a:rPr lang="zh-CN" altLang="en-US" b="1" i="0" dirty="0">
                <a:effectLst/>
                <a:latin typeface="-apple-system"/>
              </a:rPr>
              <a:t>金融服务的智能化升级</a:t>
            </a:r>
            <a:r>
              <a:rPr lang="zh-CN" altLang="en-US" b="0" i="0" dirty="0">
                <a:effectLst/>
                <a:latin typeface="-apple-system"/>
              </a:rPr>
              <a:t>。通过标准化接口、实时监控和智能风控，</a:t>
            </a:r>
            <a:r>
              <a:rPr lang="en" altLang="zh-CN" b="0" i="0" dirty="0">
                <a:effectLst/>
                <a:latin typeface="-apple-system"/>
              </a:rPr>
              <a:t>FNC</a:t>
            </a:r>
            <a:r>
              <a:rPr lang="zh-CN" altLang="en-US" b="0" i="0" dirty="0">
                <a:effectLst/>
                <a:latin typeface="-apple-system"/>
              </a:rPr>
              <a:t> 支撑跨境支付、多币种结算等关键业务，目标是打造</a:t>
            </a:r>
            <a:r>
              <a:rPr lang="zh-CN" altLang="en-US" b="1" i="0" dirty="0">
                <a:effectLst/>
                <a:latin typeface="-apple-system"/>
              </a:rPr>
              <a:t>安全、稳定、可扩展</a:t>
            </a:r>
            <a:r>
              <a:rPr lang="zh-CN" altLang="en-US" b="0" i="0" dirty="0">
                <a:effectLst/>
                <a:latin typeface="-apple-system"/>
              </a:rPr>
              <a:t>的全球金融网络，助力企业国际化发展。</a:t>
            </a:r>
            <a:endParaRPr lang="en-US" altLang="zh-CN" b="0" i="0" dirty="0"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-apple-system"/>
              </a:rPr>
              <a:t>FNC</a:t>
            </a:r>
            <a:r>
              <a:rPr lang="zh-CN" altLang="en-US" dirty="0">
                <a:latin typeface="-apple-system"/>
              </a:rPr>
              <a:t>渠道运维平台：提供渠道变更、渠道监控能力以及渠道看板。</a:t>
            </a:r>
            <a:endParaRPr lang="en-US" altLang="zh-CN" dirty="0">
              <a:latin typeface="-apple-system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444218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BBF17-D27D-6DD8-2538-8BF31468F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B3457A1-E3B0-2005-F6FE-A3205C58F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1-FNC</a:t>
            </a:r>
            <a:r>
              <a:rPr lang="zh-CN" altLang="en-US" dirty="0"/>
              <a:t>渠道运维平台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B24D02E2-6752-E9BB-62C5-F8147B6A0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5409" y="1490028"/>
            <a:ext cx="9434173" cy="4402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738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BC4E-2960-2180-B7E1-87F197E6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82324155-79AD-8007-7B87-6D0D66C8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1-FNC</a:t>
            </a:r>
            <a:r>
              <a:rPr lang="zh-CN" altLang="en-US" dirty="0"/>
              <a:t>渠道运维平台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5DA7B6-EA3C-E77C-B484-93F40AD3F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effectLst/>
                <a:latin typeface="-apple-system"/>
              </a:rPr>
              <a:t>主导开发业务单据监控大盘（目前）、付款指标监控大盘、错误码根因分析大盘以及周维度渠道指标监控。</a:t>
            </a:r>
            <a:endParaRPr lang="en-US" altLang="zh-CN" b="0" i="0" dirty="0"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-apple-system"/>
              </a:rPr>
              <a:t>微前端架构 </a:t>
            </a:r>
            <a:r>
              <a:rPr lang="en-US" altLang="zh-CN" dirty="0">
                <a:latin typeface="-apple-system"/>
              </a:rPr>
              <a:t>+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React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+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TypeScript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+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Webpack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+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Node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+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SCSS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+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MTD3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-apple-system"/>
              </a:rPr>
              <a:t>函数组件 </a:t>
            </a:r>
            <a:r>
              <a:rPr lang="en-US" altLang="zh-CN" dirty="0">
                <a:latin typeface="-apple-system"/>
              </a:rPr>
              <a:t>+</a:t>
            </a:r>
            <a:r>
              <a:rPr lang="zh-CN" altLang="en-US" dirty="0">
                <a:latin typeface="-apple-system"/>
              </a:rPr>
              <a:t> </a:t>
            </a:r>
            <a:r>
              <a:rPr lang="en-US" altLang="zh-CN" dirty="0">
                <a:latin typeface="-apple-system"/>
              </a:rPr>
              <a:t>hooks</a:t>
            </a:r>
            <a:r>
              <a:rPr lang="zh-CN" altLang="en-US" dirty="0">
                <a:latin typeface="-apple-system"/>
              </a:rPr>
              <a:t> 主导开发</a:t>
            </a:r>
            <a:endParaRPr lang="en-US" altLang="zh-CN" dirty="0"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-apple-system"/>
              </a:rPr>
              <a:t>定义业务类型接口</a:t>
            </a:r>
            <a:endParaRPr lang="en-US" altLang="zh-CN" dirty="0"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effectLst/>
                <a:latin typeface="-apple-system"/>
              </a:rPr>
              <a:t>多维度筛选</a:t>
            </a:r>
            <a:endParaRPr lang="en-US" altLang="zh-CN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491491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88189" y="821997"/>
            <a:ext cx="5087619" cy="5551371"/>
          </a:xfrm>
        </p:spPr>
        <p:txBody>
          <a:bodyPr>
            <a:normAutofit/>
          </a:bodyPr>
          <a:lstStyle/>
          <a:p>
            <a:pPr marL="0" indent="0">
              <a:spcBef>
                <a:spcPct val="0"/>
              </a:spcBef>
              <a:buNone/>
            </a:pPr>
            <a:r>
              <a:rPr lang="en-US" altLang="zh-CN" sz="3400" dirty="0">
                <a:solidFill>
                  <a:schemeClr val="accent2">
                    <a:lumMod val="40000"/>
                    <a:lumOff val="60000"/>
                  </a:schemeClr>
                </a:solidFill>
                <a:cs typeface="+mj-cs"/>
              </a:rPr>
              <a:t>2-</a:t>
            </a:r>
            <a:r>
              <a:rPr lang="zh-CN" altLang="en-US" sz="3400" dirty="0">
                <a:solidFill>
                  <a:schemeClr val="accent2">
                    <a:lumMod val="40000"/>
                    <a:lumOff val="60000"/>
                  </a:schemeClr>
                </a:solidFill>
                <a:cs typeface="+mj-cs"/>
              </a:rPr>
              <a:t>内部工具库生态建设</a:t>
            </a:r>
            <a:endParaRPr lang="en-US" altLang="zh-CN" sz="3400" dirty="0">
              <a:solidFill>
                <a:schemeClr val="accent2">
                  <a:lumMod val="40000"/>
                  <a:lumOff val="60000"/>
                </a:schemeClr>
              </a:solidFill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3400" dirty="0">
              <a:solidFill>
                <a:schemeClr val="accent2">
                  <a:lumMod val="40000"/>
                  <a:lumOff val="60000"/>
                </a:schemeClr>
              </a:solidFill>
              <a:cs typeface="+mj-cs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-apple-system"/>
              </a:rPr>
              <a:t>封装</a:t>
            </a:r>
            <a:r>
              <a:rPr lang="zh-CN" altLang="en-US" sz="2400" b="0" i="0" dirty="0">
                <a:effectLst/>
                <a:latin typeface="-apple-system"/>
              </a:rPr>
              <a:t>团队内部业务通用金额组件</a:t>
            </a:r>
            <a:endParaRPr lang="en-US" altLang="zh-CN" sz="2400" b="0" i="0" dirty="0"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effectLst/>
                <a:latin typeface="-apple-system"/>
              </a:rPr>
              <a:t>在团队已有 </a:t>
            </a:r>
            <a:r>
              <a:rPr lang="en-US" altLang="zh-CN" dirty="0"/>
              <a:t>@</a:t>
            </a:r>
            <a:r>
              <a:rPr lang="en" altLang="zh-CN" dirty="0" err="1"/>
              <a:t>finfe</a:t>
            </a:r>
            <a:r>
              <a:rPr lang="en" altLang="zh-CN" dirty="0"/>
              <a:t>/form</a:t>
            </a:r>
            <a:r>
              <a:rPr lang="zh-CN" altLang="en-US" dirty="0"/>
              <a:t> </a:t>
            </a:r>
            <a:r>
              <a:rPr lang="zh-CN" altLang="en-US" b="0" i="0" dirty="0">
                <a:effectLst/>
                <a:latin typeface="-apple-system"/>
              </a:rPr>
              <a:t>表单库基础上，针对业务场景的</a:t>
            </a:r>
            <a:r>
              <a:rPr lang="zh-CN" altLang="en-US" i="0" dirty="0">
                <a:effectLst/>
                <a:latin typeface="-apple-system"/>
              </a:rPr>
              <a:t>复杂日期选择需求</a:t>
            </a:r>
            <a:r>
              <a:rPr lang="zh-CN" altLang="en-US" b="0" i="0" dirty="0">
                <a:effectLst/>
                <a:latin typeface="-apple-system"/>
              </a:rPr>
              <a:t>，补充开发</a:t>
            </a:r>
            <a:r>
              <a:rPr lang="en" altLang="zh-CN" dirty="0" err="1"/>
              <a:t>RangePicker</a:t>
            </a:r>
            <a:r>
              <a:rPr lang="zh-CN" altLang="en-US" dirty="0"/>
              <a:t> </a:t>
            </a:r>
            <a:r>
              <a:rPr lang="zh-CN" altLang="en-US" b="0" i="0" dirty="0">
                <a:effectLst/>
                <a:latin typeface="-apple-system"/>
              </a:rPr>
              <a:t>组件</a:t>
            </a:r>
            <a:endParaRPr lang="en-US" altLang="zh-CN" b="0" i="0" dirty="0">
              <a:effectLst/>
              <a:latin typeface="-apple-system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3400" dirty="0">
              <a:solidFill>
                <a:schemeClr val="accent2">
                  <a:lumMod val="40000"/>
                  <a:lumOff val="60000"/>
                </a:schemeClr>
              </a:solidFill>
              <a:cs typeface="+mj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189" y="420622"/>
            <a:ext cx="10795000" cy="64009"/>
          </a:xfrm>
        </p:spPr>
        <p:txBody>
          <a:bodyPr/>
          <a:lstStyle/>
          <a:p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6405880" y="821997"/>
            <a:ext cx="5087619" cy="5615379"/>
          </a:xfrm>
        </p:spPr>
        <p:txBody>
          <a:bodyPr/>
          <a:lstStyle/>
          <a:p>
            <a:pPr marL="0" indent="0">
              <a:spcBef>
                <a:spcPct val="0"/>
              </a:spcBef>
              <a:buNone/>
            </a:pPr>
            <a:r>
              <a:rPr lang="en-US" altLang="zh-CN" sz="3400" dirty="0">
                <a:solidFill>
                  <a:schemeClr val="accent2">
                    <a:lumMod val="40000"/>
                    <a:lumOff val="60000"/>
                  </a:schemeClr>
                </a:solidFill>
                <a:cs typeface="+mj-cs"/>
              </a:rPr>
              <a:t>3-</a:t>
            </a:r>
            <a:r>
              <a:rPr lang="zh-CN" altLang="en-US" sz="3400" dirty="0">
                <a:solidFill>
                  <a:schemeClr val="accent2">
                    <a:lumMod val="40000"/>
                    <a:lumOff val="60000"/>
                  </a:schemeClr>
                </a:solidFill>
                <a:cs typeface="+mj-cs"/>
              </a:rPr>
              <a:t>技术文档体系完善</a:t>
            </a:r>
            <a:endParaRPr lang="en-US" altLang="zh-CN" sz="3400" dirty="0">
              <a:solidFill>
                <a:schemeClr val="accent2">
                  <a:lumMod val="40000"/>
                  <a:lumOff val="60000"/>
                </a:schemeClr>
              </a:solidFill>
              <a:cs typeface="+mj-cs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3400" dirty="0">
              <a:solidFill>
                <a:schemeClr val="accent2">
                  <a:lumMod val="40000"/>
                  <a:lumOff val="60000"/>
                </a:schemeClr>
              </a:solidFill>
              <a:cs typeface="+mj-cs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-apple-system"/>
              </a:rPr>
              <a:t>使用 </a:t>
            </a:r>
            <a:r>
              <a:rPr lang="en-US" altLang="zh-CN" sz="2400" dirty="0" err="1">
                <a:latin typeface="-apple-system"/>
              </a:rPr>
              <a:t>dumi</a:t>
            </a:r>
            <a:r>
              <a:rPr lang="zh-CN" altLang="en-US" sz="2400" dirty="0">
                <a:latin typeface="-apple-system"/>
              </a:rPr>
              <a:t> 建立工具库文档中心，包含交互示例、</a:t>
            </a:r>
            <a:r>
              <a:rPr lang="en-US" altLang="zh-CN" sz="2400" dirty="0">
                <a:latin typeface="-apple-system"/>
              </a:rPr>
              <a:t>API</a:t>
            </a:r>
            <a:r>
              <a:rPr lang="zh-CN" altLang="en-US" sz="2400" dirty="0">
                <a:latin typeface="-apple-system"/>
              </a:rPr>
              <a:t> 说明及最佳实践指南</a:t>
            </a:r>
            <a:endParaRPr lang="en-US" altLang="zh-CN" sz="2400" dirty="0">
              <a:latin typeface="-apple-system"/>
            </a:endParaRPr>
          </a:p>
          <a:p>
            <a:pPr marL="0" indent="0">
              <a:spcBef>
                <a:spcPct val="0"/>
              </a:spcBef>
              <a:buNone/>
            </a:pPr>
            <a:endParaRPr lang="zh-CN" altLang="en-US" sz="3400" dirty="0">
              <a:solidFill>
                <a:schemeClr val="accent2">
                  <a:lumMod val="40000"/>
                  <a:lumOff val="60000"/>
                </a:schemeClr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70124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C2883-8181-32B5-4DFB-6F3E8F946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64765B8-D1DF-AC55-9CF4-DDD743A1A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实习心得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0CBA49-4515-CCF7-4B3E-F27E7A3CE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effectLst/>
                <a:latin typeface="-apple-system"/>
              </a:rPr>
              <a:t>接触了新的业务、新的技术栈，新的团队文化</a:t>
            </a:r>
            <a:endParaRPr lang="en-US" altLang="zh-CN" b="0" i="0" dirty="0"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effectLst/>
                <a:latin typeface="-apple-system"/>
              </a:rPr>
              <a:t>要积极主动，不光局限于完成需求</a:t>
            </a:r>
            <a:endParaRPr lang="en-US" altLang="zh-CN" b="0" i="0" dirty="0"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b="0" i="0" dirty="0">
                <a:effectLst/>
                <a:latin typeface="-apple-system"/>
              </a:rPr>
              <a:t>不光要有输入，还</a:t>
            </a:r>
            <a:r>
              <a:rPr lang="zh-CN" altLang="en-US" dirty="0">
                <a:latin typeface="-apple-system"/>
              </a:rPr>
              <a:t>要</a:t>
            </a:r>
            <a:r>
              <a:rPr lang="zh-CN" altLang="en-US" b="0" i="0" dirty="0">
                <a:effectLst/>
                <a:latin typeface="-apple-system"/>
              </a:rPr>
              <a:t>有输出</a:t>
            </a:r>
            <a:endParaRPr lang="en-US" altLang="zh-CN" b="0" i="0" dirty="0">
              <a:effectLst/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-apple-system"/>
              </a:rPr>
              <a:t>和同事之间的沟通</a:t>
            </a:r>
            <a:endParaRPr lang="en-US" altLang="zh-CN" dirty="0">
              <a:latin typeface="-apple-system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-apple-system"/>
              </a:rPr>
              <a:t>时刻保持学习习惯</a:t>
            </a:r>
            <a:endParaRPr lang="en-US" altLang="zh-CN" dirty="0"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615540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感谢观看</a:t>
            </a: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创寰宇学府 育天下英才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报告人 张文晶</a:t>
            </a:r>
          </a:p>
        </p:txBody>
      </p:sp>
    </p:spTree>
    <p:extLst>
      <p:ext uri="{BB962C8B-B14F-4D97-AF65-F5344CB8AC3E}">
        <p14:creationId xmlns:p14="http://schemas.microsoft.com/office/powerpoint/2010/main" val="2374799763"/>
      </p:ext>
    </p:extLst>
  </p:cSld>
  <p:clrMapOvr>
    <a:masterClrMapping/>
  </p:clrMapOvr>
</p:sld>
</file>

<file path=ppt/theme/theme1.xml><?xml version="1.0" encoding="utf-8"?>
<a:theme xmlns:a="http://schemas.openxmlformats.org/drawingml/2006/main" name="teach03 16x9">
  <a:themeElements>
    <a:clrScheme name="自定义 16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2A78A8"/>
      </a:accent1>
      <a:accent2>
        <a:srgbClr val="559937"/>
      </a:accent2>
      <a:accent3>
        <a:srgbClr val="EBCA21"/>
      </a:accent3>
      <a:accent4>
        <a:srgbClr val="EB8D21"/>
      </a:accent4>
      <a:accent5>
        <a:srgbClr val="EB5638"/>
      </a:accent5>
      <a:accent6>
        <a:srgbClr val="3AAFB2"/>
      </a:accent6>
      <a:hlink>
        <a:srgbClr val="3A9CDB"/>
      </a:hlink>
      <a:folHlink>
        <a:srgbClr val="6E54AE"/>
      </a:folHlink>
    </a:clrScheme>
    <a:fontScheme name="自定义 3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omposi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Teal">
      <a:dk1>
        <a:srgbClr val="363D3D"/>
      </a:dk1>
      <a:lt1>
        <a:sysClr val="window" lastClr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Composi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58505542-BCEF-47F2-90D3-D407C4B4B1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10905</TotalTime>
  <Words>882</Words>
  <Application>Microsoft Macintosh PowerPoint</Application>
  <PresentationFormat>宽屏</PresentationFormat>
  <Paragraphs>84</Paragraphs>
  <Slides>18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-apple-system</vt:lpstr>
      <vt:lpstr>Microsoft YaHei</vt:lpstr>
      <vt:lpstr>PingFang SC</vt:lpstr>
      <vt:lpstr>Source Han Sans CN Bold</vt:lpstr>
      <vt:lpstr>Arial</vt:lpstr>
      <vt:lpstr>Calibri</vt:lpstr>
      <vt:lpstr>teach03 16x9</vt:lpstr>
      <vt:lpstr> 实习汇报</vt:lpstr>
      <vt:lpstr>目录</vt:lpstr>
      <vt:lpstr>01-</vt:lpstr>
      <vt:lpstr>美团</vt:lpstr>
      <vt:lpstr>发展历程</vt:lpstr>
      <vt:lpstr>零售 + 科技</vt:lpstr>
      <vt:lpstr>02-</vt:lpstr>
      <vt:lpstr>财务平台</vt:lpstr>
      <vt:lpstr>PowerPoint 演示文稿</vt:lpstr>
      <vt:lpstr>03-</vt:lpstr>
      <vt:lpstr>实习内容</vt:lpstr>
      <vt:lpstr>全球银企金融网络通道（FNC项目）</vt:lpstr>
      <vt:lpstr>FNC基建能力建设</vt:lpstr>
      <vt:lpstr>1-FNC渠道运维平台</vt:lpstr>
      <vt:lpstr>1-FNC渠道运维平台</vt:lpstr>
      <vt:lpstr>PowerPoint 演示文稿</vt:lpstr>
      <vt:lpstr>实习心得</vt:lpstr>
      <vt:lpstr>感谢观看</vt:lpstr>
    </vt:vector>
  </TitlesOfParts>
  <Company>cmet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教务处PPT模板003</dc:title>
  <dc:creator>现代教育技术中心</dc:creator>
  <cp:keywords/>
  <cp:lastModifiedBy>nlqs</cp:lastModifiedBy>
  <cp:revision>188</cp:revision>
  <dcterms:created xsi:type="dcterms:W3CDTF">2019-09-05T12:12:14Z</dcterms:created>
  <dcterms:modified xsi:type="dcterms:W3CDTF">2025-03-27T23:02:35Z</dcterms:modified>
  <cp:version/>
</cp:coreProperties>
</file>